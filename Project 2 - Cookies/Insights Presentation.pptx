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 autoAdjust="0"/>
    <p:restoredTop sz="94626" autoAdjust="0"/>
  </p:normalViewPr>
  <p:slideViewPr>
    <p:cSldViewPr showGuides="1">
      <p:cViewPr>
        <p:scale>
          <a:sx n="100" d="100"/>
          <a:sy n="100" d="100"/>
        </p:scale>
        <p:origin x="103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72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00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52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9" y="2768601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08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6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6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54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7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5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22168"/>
            <a:ext cx="3943350" cy="86361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22167"/>
            <a:ext cx="11601450" cy="863613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51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11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07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71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03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rot="-2700000">
            <a:off x="4226452" y="2785792"/>
            <a:ext cx="16909587" cy="6118196"/>
          </a:xfrm>
          <a:custGeom>
            <a:avLst/>
            <a:gdLst/>
            <a:ahLst/>
            <a:cxnLst/>
            <a:rect l="l" t="t" r="r" b="b"/>
            <a:pathLst>
              <a:path w="16909587" h="6118196">
                <a:moveTo>
                  <a:pt x="0" y="0"/>
                </a:moveTo>
                <a:lnTo>
                  <a:pt x="16909587" y="0"/>
                </a:lnTo>
                <a:lnTo>
                  <a:pt x="16909587" y="6118196"/>
                </a:lnTo>
                <a:lnTo>
                  <a:pt x="0" y="6118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2786380"/>
            <a:ext cx="16142970" cy="152336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1880"/>
              </a:lnSpc>
            </a:pPr>
            <a:r>
              <a:rPr lang="en-US" sz="9600" dirty="0">
                <a:solidFill>
                  <a:srgbClr val="F8F8F8"/>
                </a:solidFill>
                <a:cs typeface="Bai Jamjuree" pitchFamily="2" charset="-34"/>
              </a:rPr>
              <a:t>Margin &amp; COGS Efficiency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106707" y="7354864"/>
            <a:ext cx="5152594" cy="2054260"/>
            <a:chOff x="-2120320" y="2443074"/>
            <a:chExt cx="6870125" cy="2739014"/>
          </a:xfrm>
        </p:grpSpPr>
        <p:sp>
          <p:nvSpPr>
            <p:cNvPr id="14" name="TextBox 14"/>
            <p:cNvSpPr txBox="1"/>
            <p:nvPr/>
          </p:nvSpPr>
          <p:spPr>
            <a:xfrm>
              <a:off x="0" y="4637750"/>
              <a:ext cx="4749804" cy="544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360"/>
                </a:lnSpc>
              </a:pPr>
              <a:r>
                <a:rPr lang="en-US" sz="2400" u="none" dirty="0">
                  <a:solidFill>
                    <a:srgbClr val="F8F8F8"/>
                  </a:solidFill>
                  <a:cs typeface="Bai Jamjuree" pitchFamily="2" charset="-34"/>
                </a:rPr>
                <a:t>2026-01-13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443074"/>
              <a:ext cx="4749804" cy="471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860"/>
                </a:lnSpc>
                <a:spcBef>
                  <a:spcPct val="0"/>
                </a:spcBef>
              </a:pPr>
              <a:r>
                <a:rPr lang="en-US" sz="2200" u="none" spc="191">
                  <a:solidFill>
                    <a:srgbClr val="F8F8F8"/>
                  </a:solidFill>
                  <a:cs typeface="Bai Jamjuree" pitchFamily="2" charset="-34"/>
                </a:rPr>
                <a:t>PRESENTED BY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-2120320" y="2979535"/>
              <a:ext cx="6870125" cy="5443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360"/>
                </a:lnSpc>
              </a:pPr>
              <a:r>
                <a:rPr lang="en-US" sz="2400" u="none" dirty="0">
                  <a:solidFill>
                    <a:srgbClr val="F8F8F8"/>
                  </a:solidFill>
                  <a:cs typeface="Bai Jamjuree" pitchFamily="2" charset="-34"/>
                </a:rPr>
                <a:t>Louis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1028700"/>
            <a:ext cx="3903161" cy="489363"/>
            <a:chOff x="0" y="0"/>
            <a:chExt cx="5204215" cy="652485"/>
          </a:xfrm>
        </p:grpSpPr>
        <p:sp>
          <p:nvSpPr>
            <p:cNvPr id="19" name="TextBox 19"/>
            <p:cNvSpPr txBox="1"/>
            <p:nvPr/>
          </p:nvSpPr>
          <p:spPr>
            <a:xfrm>
              <a:off x="877820" y="65132"/>
              <a:ext cx="4326395" cy="496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80"/>
                </a:lnSpc>
                <a:spcBef>
                  <a:spcPct val="0"/>
                </a:spcBef>
              </a:pPr>
              <a:r>
                <a:rPr lang="en-US" sz="2200" dirty="0">
                  <a:solidFill>
                    <a:srgbClr val="F8F8F8"/>
                  </a:solidFill>
                  <a:cs typeface="Bai Jamjuree" pitchFamily="2" charset="-34"/>
                </a:rPr>
                <a:t>Cookie Inc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633503" cy="652485"/>
            </a:xfrm>
            <a:custGeom>
              <a:avLst/>
              <a:gdLst/>
              <a:ahLst/>
              <a:cxnLst/>
              <a:rect l="l" t="t" r="r" b="b"/>
              <a:pathLst>
                <a:path w="633503" h="652485">
                  <a:moveTo>
                    <a:pt x="0" y="0"/>
                  </a:moveTo>
                  <a:lnTo>
                    <a:pt x="633503" y="0"/>
                  </a:lnTo>
                  <a:lnTo>
                    <a:pt x="633503" y="652485"/>
                  </a:lnTo>
                  <a:lnTo>
                    <a:pt x="0" y="652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4" name="Freeform 19"/>
          <p:cNvSpPr/>
          <p:nvPr/>
        </p:nvSpPr>
        <p:spPr>
          <a:xfrm rot="2159446">
            <a:off x="13111917" y="-3539846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{Kpi_value}"/>
          <p:cNvSpPr txBox="1"/>
          <p:nvPr/>
        </p:nvSpPr>
        <p:spPr>
          <a:xfrm>
            <a:off x="6572250" y="7223760"/>
            <a:ext cx="5005705" cy="129286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$7.8k</a:t>
            </a:r>
          </a:p>
        </p:txBody>
      </p:sp>
      <p:sp>
        <p:nvSpPr>
          <p:cNvPr id="16" name="{Kpi_summary}"/>
          <p:cNvSpPr txBox="1"/>
          <p:nvPr/>
        </p:nvSpPr>
        <p:spPr>
          <a:xfrm>
            <a:off x="6708775" y="8554720"/>
            <a:ext cx="4883785" cy="132969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Profit impact from 1% COGS reduction on second-priority item</a:t>
            </a:r>
            <a:endParaRPr sz="20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17" name="{Kpi_title}"/>
          <p:cNvSpPr txBox="1"/>
          <p:nvPr/>
        </p:nvSpPr>
        <p:spPr>
          <a:xfrm>
            <a:off x="6666230" y="6712585"/>
            <a:ext cx="4931410" cy="39116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>
              <a:defRPr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Sugar COGS Cut</a:t>
            </a:r>
          </a:p>
        </p:txBody>
      </p:sp>
      <p:sp>
        <p:nvSpPr>
          <p:cNvPr id="18" name="{Kpi_value}"/>
          <p:cNvSpPr txBox="1"/>
          <p:nvPr/>
        </p:nvSpPr>
        <p:spPr>
          <a:xfrm>
            <a:off x="11762740" y="7156450"/>
            <a:ext cx="5292725" cy="134683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$148k</a:t>
            </a:r>
          </a:p>
        </p:txBody>
      </p:sp>
      <p:sp>
        <p:nvSpPr>
          <p:cNvPr id="19" name="{Kpi_summary}"/>
          <p:cNvSpPr txBox="1"/>
          <p:nvPr/>
        </p:nvSpPr>
        <p:spPr>
          <a:xfrm>
            <a:off x="12013565" y="8554720"/>
            <a:ext cx="4580255" cy="135763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Annual profit increase from 8-10% price increase with 90% volume retention</a:t>
            </a:r>
            <a:endParaRPr sz="20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20" name="{Kpi_title}"/>
          <p:cNvSpPr txBox="1"/>
          <p:nvPr/>
        </p:nvSpPr>
        <p:spPr>
          <a:xfrm>
            <a:off x="11923395" y="6701155"/>
            <a:ext cx="4599940" cy="47244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>
              <a:defRPr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Premium Upside</a:t>
            </a:r>
          </a:p>
        </p:txBody>
      </p:sp>
      <p:sp>
        <p:nvSpPr>
          <p:cNvPr id="21" name="{Paragraph_title}"/>
          <p:cNvSpPr txBox="1"/>
          <p:nvPr/>
        </p:nvSpPr>
        <p:spPr>
          <a:xfrm>
            <a:off x="1020445" y="1657985"/>
            <a:ext cx="13625195" cy="72199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norm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42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COGS Reduction &amp; Premium Repositioning</a:t>
            </a:r>
            <a:endParaRPr sz="42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22" name="{Paragraph_content}"/>
          <p:cNvSpPr txBox="1"/>
          <p:nvPr/>
        </p:nvSpPr>
        <p:spPr>
          <a:xfrm>
            <a:off x="999490" y="2790825"/>
            <a:ext cx="16289655" cy="201485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bg1"/>
                </a:solidFill>
                <a:ea typeface="Helvetica Neue"/>
                <a:cs typeface="Bai Jamjuree" pitchFamily="2" charset="-34"/>
                <a:sym typeface="Helvetica Neue"/>
              </a:rPr>
              <a:t>Focus supply chain optimization on Chocolate Chip and Sugar (59.81% of volume). A 1% COGS reduction delivers $19.7k cumulative profit impact. White Chocolate Macadamia Nut's 54% margin indicates demand elasticity—test 8-10% price increase with premium positioning. If volume maintains at 90% of current level, profit increases $148k annually. Fortune Cookie's exceptional 80% margin with 13.7% volume share presents significant untapped potential; even modest volume lift to 18% could add $55k+ annual profit.</a:t>
            </a:r>
            <a:endParaRPr sz="20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</p:txBody>
      </p:sp>
      <p:sp>
        <p:nvSpPr>
          <p:cNvPr id="23" name="{Kpi_value}"/>
          <p:cNvSpPr txBox="1"/>
          <p:nvPr/>
        </p:nvSpPr>
        <p:spPr>
          <a:xfrm>
            <a:off x="1220470" y="7173595"/>
            <a:ext cx="5136515" cy="132969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$11.9k</a:t>
            </a:r>
          </a:p>
        </p:txBody>
      </p:sp>
      <p:sp>
        <p:nvSpPr>
          <p:cNvPr id="24" name="{Kpi_summary}"/>
          <p:cNvSpPr txBox="1"/>
          <p:nvPr/>
        </p:nvSpPr>
        <p:spPr>
          <a:xfrm>
            <a:off x="1667510" y="8539480"/>
            <a:ext cx="4683125" cy="137287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>
              <a:defRPr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0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1% COGS reduction profit impact on highest-leverage product</a:t>
            </a:r>
            <a:endParaRPr sz="20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25" name="{Kpi_title}"/>
          <p:cNvSpPr txBox="1"/>
          <p:nvPr/>
        </p:nvSpPr>
        <p:spPr>
          <a:xfrm>
            <a:off x="1677035" y="6697345"/>
            <a:ext cx="4545965" cy="44577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>
              <a:defRPr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Chocolate Chip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800100" y="6134100"/>
            <a:ext cx="16687800" cy="0"/>
          </a:xfrm>
          <a:prstGeom prst="line">
            <a:avLst/>
          </a:prstGeom>
          <a:ln w="1270">
            <a:solidFill>
              <a:schemeClr val="bg1">
                <a:alpha val="4009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 15"/>
          <p:cNvSpPr>
            <a:spLocks noChangeAspect="1"/>
          </p:cNvSpPr>
          <p:nvPr/>
        </p:nvSpPr>
        <p:spPr>
          <a:xfrm>
            <a:off x="3678036" y="5822961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7" name="Freeform 15"/>
          <p:cNvSpPr>
            <a:spLocks noChangeAspect="1"/>
          </p:cNvSpPr>
          <p:nvPr/>
        </p:nvSpPr>
        <p:spPr>
          <a:xfrm>
            <a:off x="8879578" y="5822961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8" name="Freeform 15"/>
          <p:cNvSpPr>
            <a:spLocks noChangeAspect="1"/>
          </p:cNvSpPr>
          <p:nvPr/>
        </p:nvSpPr>
        <p:spPr>
          <a:xfrm>
            <a:off x="14063430" y="5822961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4" name="Freeform 19"/>
          <p:cNvSpPr/>
          <p:nvPr/>
        </p:nvSpPr>
        <p:spPr>
          <a:xfrm rot="2159446">
            <a:off x="13111917" y="-3539846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cxnSp>
        <p:nvCxnSpPr>
          <p:cNvPr id="4" name="Straight Connector 3"/>
          <p:cNvCxnSpPr/>
          <p:nvPr/>
        </p:nvCxnSpPr>
        <p:spPr>
          <a:xfrm>
            <a:off x="800100" y="5988039"/>
            <a:ext cx="16687800" cy="0"/>
          </a:xfrm>
          <a:prstGeom prst="line">
            <a:avLst/>
          </a:prstGeom>
          <a:ln w="1270">
            <a:solidFill>
              <a:schemeClr val="bg1">
                <a:alpha val="4009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 15"/>
          <p:cNvSpPr>
            <a:spLocks noChangeAspect="1"/>
          </p:cNvSpPr>
          <p:nvPr/>
        </p:nvSpPr>
        <p:spPr>
          <a:xfrm>
            <a:off x="4644764" y="5676900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8" name="Freeform 15"/>
          <p:cNvSpPr>
            <a:spLocks noChangeAspect="1"/>
          </p:cNvSpPr>
          <p:nvPr/>
        </p:nvSpPr>
        <p:spPr>
          <a:xfrm>
            <a:off x="13003215" y="5676900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6" name="{Paragraph_title}"/>
          <p:cNvSpPr txBox="1"/>
          <p:nvPr/>
        </p:nvSpPr>
        <p:spPr>
          <a:xfrm>
            <a:off x="1020445" y="1657985"/>
            <a:ext cx="13674090" cy="72199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norm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42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Phased Implementation Approach</a:t>
            </a:r>
            <a:endParaRPr sz="42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27" name="{Paragraph_content}"/>
          <p:cNvSpPr txBox="1"/>
          <p:nvPr/>
        </p:nvSpPr>
        <p:spPr>
          <a:xfrm>
            <a:off x="999490" y="2760345"/>
            <a:ext cx="16289655" cy="243078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bg1"/>
                </a:solidFill>
                <a:ea typeface="Helvetica Neue"/>
                <a:cs typeface="Bai Jamjuree" pitchFamily="2" charset="-34"/>
                <a:sym typeface="Helvetica Neue"/>
              </a:rPr>
              <a:t>Phase 1 (Weeks 1-4): Conduct vendor cost analysis for Chocolate Chip's primary ingredients and packaging. Industry benchmarks show bakery operations can negotiate 10-15% ingredient cost reductions through bulk commitment or supplier consolidation. Target conservative 1% COGS reduction ($11,885 annual profit gain). </a:t>
            </a: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bg1"/>
                </a:solidFill>
                <a:ea typeface="Helvetica Neue"/>
                <a:cs typeface="Bai Jamjuree" pitchFamily="2" charset="-34"/>
                <a:sym typeface="Helvetica Neue"/>
              </a:rPr>
              <a:t>Phase 2 (Weeks 5-8): Implement Lean Manufacturing process improvements on Chocolate Chip production line; case studies document 4-11% scrap rate reductions yielding 1-2% additional COGS savings ($11,885-$23,770 incremental profit). </a:t>
            </a: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bg1"/>
                </a:solidFill>
                <a:ea typeface="Helvetica Neue"/>
                <a:cs typeface="Bai Jamjuree" pitchFamily="2" charset="-34"/>
                <a:sym typeface="Helvetica Neue"/>
              </a:rPr>
              <a:t>Phase 3 (Weeks 9-12): Apply validated learnings to White Chocolate Macadamia Nut optimization. Combined, these two products represent $103,527-$155,290 annual profit opportunity if 3-5% COGS reduction is achieved.</a:t>
            </a:r>
            <a:endParaRPr sz="20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</p:txBody>
      </p:sp>
      <p:sp>
        <p:nvSpPr>
          <p:cNvPr id="28" name="{Kpi_value}"/>
          <p:cNvSpPr txBox="1"/>
          <p:nvPr/>
        </p:nvSpPr>
        <p:spPr>
          <a:xfrm>
            <a:off x="999490" y="7136765"/>
            <a:ext cx="7780655" cy="139255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>
              <a:defRPr sz="7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40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61.5%</a:t>
            </a:r>
          </a:p>
        </p:txBody>
      </p:sp>
      <p:sp>
        <p:nvSpPr>
          <p:cNvPr id="29" name="{Kpi_summary}"/>
          <p:cNvSpPr txBox="1"/>
          <p:nvPr/>
        </p:nvSpPr>
        <p:spPr>
          <a:xfrm>
            <a:off x="900430" y="8473440"/>
            <a:ext cx="7888605" cy="140271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>
              <a:defRPr sz="32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Combined optimization potential from Chocolate Chip and White Chocolate Macadamia Nut</a:t>
            </a: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0" name="{Kpi_title}"/>
          <p:cNvSpPr txBox="1"/>
          <p:nvPr/>
        </p:nvSpPr>
        <p:spPr>
          <a:xfrm>
            <a:off x="1153160" y="6631940"/>
            <a:ext cx="7037070" cy="47180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 fontScale="97500" lnSpcReduction="10000"/>
          </a:bodyPr>
          <a:lstStyle>
            <a:lvl1pPr>
              <a:defRPr sz="36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7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Dual Leverage</a:t>
            </a:r>
            <a:endParaRPr sz="27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1" name="{Kpi_value}"/>
          <p:cNvSpPr txBox="1"/>
          <p:nvPr/>
        </p:nvSpPr>
        <p:spPr>
          <a:xfrm>
            <a:off x="9597390" y="7059930"/>
            <a:ext cx="7268210" cy="141986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>
              <a:defRPr sz="7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40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$155k</a:t>
            </a:r>
          </a:p>
        </p:txBody>
      </p:sp>
      <p:sp>
        <p:nvSpPr>
          <p:cNvPr id="32" name="{Kpi_summary}"/>
          <p:cNvSpPr txBox="1"/>
          <p:nvPr/>
        </p:nvSpPr>
        <p:spPr>
          <a:xfrm>
            <a:off x="9658985" y="8479790"/>
            <a:ext cx="7205980" cy="139255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>
              <a:defRPr sz="32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Maximum profit opportunity from 3-5% COGS reduction on priority products</a:t>
            </a: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3" name="{Kpi_title}"/>
          <p:cNvSpPr txBox="1"/>
          <p:nvPr/>
        </p:nvSpPr>
        <p:spPr>
          <a:xfrm>
            <a:off x="9634855" y="6631940"/>
            <a:ext cx="7098030" cy="59563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>
              <a:defRPr sz="36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Annual Upside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Freeform 19"/>
          <p:cNvSpPr/>
          <p:nvPr/>
        </p:nvSpPr>
        <p:spPr>
          <a:xfrm rot="2159446">
            <a:off x="13111917" y="-3539846"/>
            <a:ext cx="7814506" cy="6308438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8" name="{Paragraph_title}"/>
          <p:cNvSpPr txBox="1"/>
          <p:nvPr/>
        </p:nvSpPr>
        <p:spPr>
          <a:xfrm>
            <a:off x="914492" y="2728512"/>
            <a:ext cx="10647803" cy="72327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 sz="5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42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Three-Pillar Strategy</a:t>
            </a:r>
            <a:endParaRPr sz="42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29" name="{Paragraph_content}"/>
          <p:cNvSpPr txBox="1"/>
          <p:nvPr/>
        </p:nvSpPr>
        <p:spPr>
          <a:xfrm>
            <a:off x="999490" y="3883025"/>
            <a:ext cx="10690225" cy="307911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  <a:sym typeface="Helvetica Neue"/>
              </a:rPr>
              <a:t>Expand Fortune Cookie volume by 20-30%—with 80% margin and minimal COGS ($0.2 per unit), even a 20% volume increase could add $35K-50K annual profit with zero margin pressure. </a:t>
            </a: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  <a:sym typeface="Helvetica Neue"/>
              </a:rPr>
              <a:t>Defend Chocolate Chip leadership while exploring bundling strategies: pairing Fortune Cookie's 80% margin with Chocolate Chip's volume could stabilize total margin while maintaining volume protection. Rightsize Premium category or reformulate—with 2.75 COGS per unit and limited volume traction, consider repositioning as limited-distribution luxury offering or reallocating shelf space toward Standard variants. </a:t>
            </a: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  <a:sym typeface="Helvetica Neue"/>
              </a:rPr>
              <a:t>Industry benchmarks show successful CPG portfolio management targets 2-4% sales uplift through assortment optimization; focus promotional efforts on Fortune Cookie and Snickerdoodle (combined 71% margin but only 26.9% volume).</a:t>
            </a: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</p:txBody>
      </p:sp>
      <p:sp>
        <p:nvSpPr>
          <p:cNvPr id="30" name="{Kpi_value}"/>
          <p:cNvSpPr txBox="1"/>
          <p:nvPr/>
        </p:nvSpPr>
        <p:spPr>
          <a:xfrm>
            <a:off x="12599035" y="4232910"/>
            <a:ext cx="5444490" cy="128460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normAutofit/>
          </a:bodyPr>
          <a:lstStyle>
            <a:lvl1pPr>
              <a:defRPr sz="1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$50k</a:t>
            </a:r>
          </a:p>
        </p:txBody>
      </p:sp>
      <p:sp>
        <p:nvSpPr>
          <p:cNvPr id="31" name="{Kpi_summary}"/>
          <p:cNvSpPr txBox="1"/>
          <p:nvPr/>
        </p:nvSpPr>
        <p:spPr>
          <a:xfrm>
            <a:off x="12666980" y="5796915"/>
            <a:ext cx="5167630" cy="310515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>
              <a:defRPr sz="2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Annual profit potential from 20% volume increase with 80% margin</a:t>
            </a: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2" name="{Kpi_title}"/>
          <p:cNvSpPr txBox="1"/>
          <p:nvPr/>
        </p:nvSpPr>
        <p:spPr>
          <a:xfrm>
            <a:off x="12668250" y="3453765"/>
            <a:ext cx="4918075" cy="46990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 fontScale="97500" lnSpcReduction="10000"/>
          </a:bodyPr>
          <a:lstStyle>
            <a:lvl1pPr>
              <a:defRPr sz="3600" b="1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algn="ctr" defTabSz="1828800" hangingPunct="0"/>
            <a:r>
              <a:rPr lang="en-US" sz="27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Fortune Cookie</a:t>
            </a:r>
            <a:endParaRPr sz="27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12275057" y="3200400"/>
            <a:ext cx="0" cy="3886200"/>
          </a:xfrm>
          <a:prstGeom prst="line">
            <a:avLst/>
          </a:prstGeom>
          <a:ln w="1270">
            <a:solidFill>
              <a:schemeClr val="bg1">
                <a:alpha val="4009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15"/>
          <p:cNvSpPr>
            <a:spLocks noChangeAspect="1"/>
          </p:cNvSpPr>
          <p:nvPr/>
        </p:nvSpPr>
        <p:spPr>
          <a:xfrm>
            <a:off x="14780244" y="2552773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1" name="圆角矩形" descr="{CG[1].image}"/>
          <p:cNvSpPr/>
          <p:nvPr/>
        </p:nvSpPr>
        <p:spPr>
          <a:xfrm>
            <a:off x="1231540" y="4573358"/>
            <a:ext cx="10014557" cy="4957558"/>
          </a:xfrm>
          <a:prstGeom prst="roundRect">
            <a:avLst>
              <a:gd name="adj" fmla="val 0"/>
            </a:avLst>
          </a:prstGeom>
          <a:solidFill>
            <a:schemeClr val="bg1">
              <a:alpha val="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26" name="{Paragraph_title}"/>
          <p:cNvSpPr txBox="1"/>
          <p:nvPr/>
        </p:nvSpPr>
        <p:spPr>
          <a:xfrm>
            <a:off x="1020536" y="876300"/>
            <a:ext cx="10647803" cy="630942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chemeClr val="bg1"/>
                </a:solidFill>
                <a:ea typeface="Inter" pitchFamily="2" charset="0"/>
                <a:cs typeface="Bai Jamjuree" pitchFamily="2" charset="-34"/>
              </a:rPr>
              <a:t>Margin Performance Overview</a:t>
            </a:r>
            <a:endParaRPr sz="3600" kern="0" dirty="0">
              <a:solidFill>
                <a:schemeClr val="bg1"/>
              </a:solidFill>
              <a:ea typeface="Inter" pitchFamily="2" charset="0"/>
              <a:cs typeface="Bai Jamjuree" pitchFamily="2" charset="-34"/>
            </a:endParaRPr>
          </a:p>
        </p:txBody>
      </p:sp>
      <p:sp>
        <p:nvSpPr>
          <p:cNvPr id="27" name="{Paragraph_content}"/>
          <p:cNvSpPr txBox="1"/>
          <p:nvPr/>
        </p:nvSpPr>
        <p:spPr>
          <a:xfrm>
            <a:off x="999490" y="1607185"/>
            <a:ext cx="10647680" cy="209169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/>
          <a:p>
            <a:pPr defTabSz="1828800" hangingPunct="0"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bg1"/>
                </a:solidFill>
                <a:ea typeface="Inter" pitchFamily="2" charset="0"/>
                <a:cs typeface="Bai Jamjuree" pitchFamily="2" charset="-34"/>
                <a:sym typeface="Helvetica Neue"/>
              </a:rPr>
              <a:t>Comprehensive analysis reveals significant margin variation across 6 products, ranging from 54% to 80%, with corresponding COGS intensity spanning 20%-46% of sale price. Two structurally challenged items (Oatmeal Raisin at 56% and White Chocolate Macadamia Nut at 54%) underperform industry cookie margins, while Fortune Cookie dominates with exceptional 80% margin despite lowest unit volume, demonstrating inverse correlation between margin and sales volume.</a:t>
            </a:r>
            <a:endParaRPr sz="2000" kern="0" dirty="0">
              <a:solidFill>
                <a:schemeClr val="bg1"/>
              </a:solidFill>
              <a:ea typeface="Inter" pitchFamily="2" charset="0"/>
              <a:cs typeface="Bai Jamjuree" pitchFamily="2" charset="-34"/>
              <a:sym typeface="Helvetica Neue"/>
            </a:endParaRPr>
          </a:p>
          <a:p>
            <a:pPr defTabSz="1828800" hangingPunct="0"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bg1"/>
              </a:solidFill>
              <a:ea typeface="Inter" pitchFamily="2" charset="0"/>
              <a:cs typeface="Bai Jamjuree" pitchFamily="2" charset="-34"/>
              <a:sym typeface="Helvetica Neue"/>
            </a:endParaRPr>
          </a:p>
        </p:txBody>
      </p:sp>
      <p:sp>
        <p:nvSpPr>
          <p:cNvPr id="28" name="{Chart_title}"/>
          <p:cNvSpPr txBox="1"/>
          <p:nvPr/>
        </p:nvSpPr>
        <p:spPr>
          <a:xfrm>
            <a:off x="1127439" y="3988666"/>
            <a:ext cx="10433997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Product Margin % Hierarchy vs Industry Context</a:t>
            </a:r>
            <a:endParaRPr sz="21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29" name=" "/>
          <p:cNvSpPr txBox="1"/>
          <p:nvPr/>
        </p:nvSpPr>
        <p:spPr>
          <a:xfrm>
            <a:off x="5575540" y="6772058"/>
            <a:ext cx="1473160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chemeClr val="bg1"/>
                </a:solidFill>
                <a:latin typeface="Bai Jamjuree" pitchFamily="2" charset="-34"/>
                <a:ea typeface="Helvetica Neue"/>
                <a:cs typeface="Bai Jamjuree" pitchFamily="2" charset="-34"/>
              </a:rPr>
              <a:t> </a:t>
            </a:r>
            <a:endParaRPr kern="0" dirty="0">
              <a:solidFill>
                <a:schemeClr val="bg1"/>
              </a:solidFill>
              <a:latin typeface="Bai Jamjuree" pitchFamily="2" charset="-34"/>
              <a:ea typeface="Helvetica Neue"/>
              <a:cs typeface="Bai Jamjuree" pitchFamily="2" charset="-34"/>
            </a:endParaRPr>
          </a:p>
        </p:txBody>
      </p:sp>
      <p:sp>
        <p:nvSpPr>
          <p:cNvPr id="30" name="{KPI_group_title}"/>
          <p:cNvSpPr txBox="1"/>
          <p:nvPr/>
        </p:nvSpPr>
        <p:spPr>
          <a:xfrm>
            <a:off x="12356039" y="1081854"/>
            <a:ext cx="1790555" cy="507831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b="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Key Metrics</a:t>
            </a:r>
            <a:endParaRPr b="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1" name="{Kpi_title}"/>
          <p:cNvSpPr txBox="1"/>
          <p:nvPr/>
        </p:nvSpPr>
        <p:spPr>
          <a:xfrm>
            <a:off x="13265785" y="1943100"/>
            <a:ext cx="4488815" cy="50800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400" b="1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Margin Range</a:t>
            </a:r>
            <a:endParaRPr sz="2400" b="1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2" name="{Kpi_value}"/>
          <p:cNvSpPr txBox="1"/>
          <p:nvPr/>
        </p:nvSpPr>
        <p:spPr>
          <a:xfrm>
            <a:off x="13265785" y="2400300"/>
            <a:ext cx="4620895" cy="101155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54%-80%</a:t>
            </a:r>
          </a:p>
        </p:txBody>
      </p:sp>
      <p:sp>
        <p:nvSpPr>
          <p:cNvPr id="33" name="{Kpi_summary}"/>
          <p:cNvSpPr txBox="1"/>
          <p:nvPr/>
        </p:nvSpPr>
        <p:spPr>
          <a:xfrm>
            <a:off x="13265785" y="3426460"/>
            <a:ext cx="4604385" cy="103314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000" kern="0" dirty="0">
                <a:solidFill>
                  <a:schemeClr val="bg1">
                    <a:lumMod val="85000"/>
                  </a:schemeClr>
                </a:solidFill>
                <a:ea typeface="Helvetica Neue"/>
                <a:cs typeface="Bai Jamjuree" pitchFamily="2" charset="-34"/>
              </a:rPr>
              <a:t>Significant variation across product portfolio with Fortune Cookie leading at 80%</a:t>
            </a:r>
          </a:p>
        </p:txBody>
      </p:sp>
      <p:sp>
        <p:nvSpPr>
          <p:cNvPr id="34" name="{Kpi_title}"/>
          <p:cNvSpPr txBox="1"/>
          <p:nvPr/>
        </p:nvSpPr>
        <p:spPr>
          <a:xfrm>
            <a:off x="13265785" y="4529455"/>
            <a:ext cx="4489450" cy="46799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400" b="1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COGS Intensity</a:t>
            </a:r>
            <a:endParaRPr sz="2400" b="1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5" name="{Kpi_value}"/>
          <p:cNvSpPr txBox="1"/>
          <p:nvPr/>
        </p:nvSpPr>
        <p:spPr>
          <a:xfrm>
            <a:off x="13265785" y="5020945"/>
            <a:ext cx="4469130" cy="101409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20%-46%</a:t>
            </a:r>
          </a:p>
        </p:txBody>
      </p:sp>
      <p:sp>
        <p:nvSpPr>
          <p:cNvPr id="36" name="{Kpi_summary}"/>
          <p:cNvSpPr txBox="1"/>
          <p:nvPr/>
        </p:nvSpPr>
        <p:spPr>
          <a:xfrm>
            <a:off x="13265785" y="6012815"/>
            <a:ext cx="4620895" cy="98425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000" kern="0" dirty="0">
                <a:solidFill>
                  <a:schemeClr val="bg1">
                    <a:lumMod val="85000"/>
                  </a:schemeClr>
                </a:solidFill>
                <a:ea typeface="Helvetica Neue"/>
                <a:cs typeface="Bai Jamjuree" pitchFamily="2" charset="-34"/>
              </a:rPr>
              <a:t>Cost of goods sold as percentage of sale price shows inverse relationship with margin performance</a:t>
            </a:r>
          </a:p>
        </p:txBody>
      </p:sp>
      <p:sp>
        <p:nvSpPr>
          <p:cNvPr id="37" name="{Kpi_title}"/>
          <p:cNvSpPr txBox="1"/>
          <p:nvPr/>
        </p:nvSpPr>
        <p:spPr>
          <a:xfrm>
            <a:off x="13265785" y="7116445"/>
            <a:ext cx="4282440" cy="46799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400" b="1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Challenged Items</a:t>
            </a:r>
            <a:endParaRPr sz="2400" b="1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8" name="{Kpi_value}"/>
          <p:cNvSpPr txBox="1"/>
          <p:nvPr/>
        </p:nvSpPr>
        <p:spPr>
          <a:xfrm>
            <a:off x="13265785" y="7530465"/>
            <a:ext cx="4489450" cy="101473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2 products</a:t>
            </a:r>
          </a:p>
        </p:txBody>
      </p:sp>
      <p:sp>
        <p:nvSpPr>
          <p:cNvPr id="39" name="{Kpi_summary}"/>
          <p:cNvSpPr txBox="1"/>
          <p:nvPr/>
        </p:nvSpPr>
        <p:spPr>
          <a:xfrm>
            <a:off x="13265785" y="8599805"/>
            <a:ext cx="4650105" cy="125285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000" kern="0" dirty="0">
                <a:solidFill>
                  <a:schemeClr val="bg1">
                    <a:lumMod val="85000"/>
                  </a:schemeClr>
                </a:solidFill>
                <a:ea typeface="Helvetica Neue"/>
                <a:cs typeface="Bai Jamjuree" pitchFamily="2" charset="-34"/>
              </a:rPr>
              <a:t>Oatmeal Raisin and White Chocolate Macadamia Nut fall below 57% margin threshold</a:t>
            </a:r>
          </a:p>
        </p:txBody>
      </p:sp>
      <p:sp>
        <p:nvSpPr>
          <p:cNvPr id="40" name="Freeform 6"/>
          <p:cNvSpPr/>
          <p:nvPr/>
        </p:nvSpPr>
        <p:spPr>
          <a:xfrm rot="543904">
            <a:off x="-1858935" y="8723421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1" name="Freeform 15"/>
          <p:cNvSpPr>
            <a:spLocks noChangeAspect="1"/>
          </p:cNvSpPr>
          <p:nvPr/>
        </p:nvSpPr>
        <p:spPr>
          <a:xfrm>
            <a:off x="12356039" y="1943247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2" name="Freeform 15"/>
          <p:cNvSpPr>
            <a:spLocks noChangeAspect="1"/>
          </p:cNvSpPr>
          <p:nvPr/>
        </p:nvSpPr>
        <p:spPr>
          <a:xfrm>
            <a:off x="12356039" y="4572965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3" name="Freeform 15"/>
          <p:cNvSpPr>
            <a:spLocks noChangeAspect="1"/>
          </p:cNvSpPr>
          <p:nvPr/>
        </p:nvSpPr>
        <p:spPr>
          <a:xfrm>
            <a:off x="12356039" y="7202652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1004" name="Chart Image 5"/>
          <p:cNvPicPr/>
          <p:nvPr/>
        </p:nvPicPr>
        <p:blipFill>
          <a:blip r:embed="rId7"/>
          <a:stretch>
            <a:fillRect/>
          </a:stretch>
        </p:blipFill>
        <p:spPr>
          <a:xfrm>
            <a:off x="2041060" y="4573358"/>
            <a:ext cx="8395517" cy="49575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1" name="圆角矩形" descr="{CG[1].image}"/>
          <p:cNvSpPr/>
          <p:nvPr/>
        </p:nvSpPr>
        <p:spPr>
          <a:xfrm>
            <a:off x="1231540" y="4573358"/>
            <a:ext cx="10014557" cy="4957558"/>
          </a:xfrm>
          <a:prstGeom prst="roundRect">
            <a:avLst>
              <a:gd name="adj" fmla="val 0"/>
            </a:avLst>
          </a:prstGeom>
          <a:solidFill>
            <a:schemeClr val="bg1">
              <a:alpha val="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26" name="{Paragraph_title}"/>
          <p:cNvSpPr txBox="1"/>
          <p:nvPr/>
        </p:nvSpPr>
        <p:spPr>
          <a:xfrm>
            <a:off x="1020536" y="876300"/>
            <a:ext cx="10647803" cy="630942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chemeClr val="bg1"/>
                </a:solidFill>
                <a:ea typeface="Inter" pitchFamily="2" charset="0"/>
                <a:cs typeface="Bai Jamjuree" pitchFamily="2" charset="-34"/>
              </a:rPr>
              <a:t>Cost Reduction Impact Analysis</a:t>
            </a:r>
            <a:endParaRPr sz="3600" kern="0" dirty="0">
              <a:solidFill>
                <a:schemeClr val="bg1"/>
              </a:solidFill>
              <a:ea typeface="Inter" pitchFamily="2" charset="0"/>
              <a:cs typeface="Bai Jamjuree" pitchFamily="2" charset="-34"/>
            </a:endParaRPr>
          </a:p>
        </p:txBody>
      </p:sp>
      <p:sp>
        <p:nvSpPr>
          <p:cNvPr id="27" name="{Paragraph_content}"/>
          <p:cNvSpPr txBox="1"/>
          <p:nvPr/>
        </p:nvSpPr>
        <p:spPr>
          <a:xfrm>
            <a:off x="999490" y="1607185"/>
            <a:ext cx="10647680" cy="209169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/>
          <a:p>
            <a:pPr defTabSz="1828800" hangingPunct="0"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000" kern="0" dirty="0">
                <a:solidFill>
                  <a:schemeClr val="bg1"/>
                </a:solidFill>
                <a:ea typeface="Inter" pitchFamily="2" charset="0"/>
                <a:cs typeface="Bai Jamjuree" pitchFamily="2" charset="-34"/>
                <a:sym typeface="Helvetica Neue"/>
              </a:rPr>
              <a:t>Quantified 1% COGS reduction impact across products shows Chocolate Chip ($11,885 potential) and White Chocolate Macadamia Nut ($7,848 potential) offer highest absolute profit enhancement, driven by high COGS per unit (2.0-2.75) multiplied by large unit volumes (262k-594k units), representing primary cost optimization targets.</a:t>
            </a:r>
            <a:endParaRPr sz="2000" kern="0" dirty="0">
              <a:solidFill>
                <a:schemeClr val="bg1"/>
              </a:solidFill>
              <a:ea typeface="Inter" pitchFamily="2" charset="0"/>
              <a:cs typeface="Bai Jamjuree" pitchFamily="2" charset="-34"/>
              <a:sym typeface="Helvetica Neue"/>
            </a:endParaRPr>
          </a:p>
          <a:p>
            <a:pPr defTabSz="1828800" hangingPunct="0">
              <a:defRPr sz="20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000" kern="0" dirty="0">
              <a:solidFill>
                <a:schemeClr val="bg1"/>
              </a:solidFill>
              <a:ea typeface="Inter" pitchFamily="2" charset="0"/>
              <a:cs typeface="Bai Jamjuree" pitchFamily="2" charset="-34"/>
              <a:sym typeface="Helvetica Neue"/>
            </a:endParaRPr>
          </a:p>
        </p:txBody>
      </p:sp>
      <p:sp>
        <p:nvSpPr>
          <p:cNvPr id="28" name="{Chart_title}"/>
          <p:cNvSpPr txBox="1"/>
          <p:nvPr/>
        </p:nvSpPr>
        <p:spPr>
          <a:xfrm>
            <a:off x="1127439" y="3988666"/>
            <a:ext cx="10433997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1% COGS Reduction Impact by Product: Absolute Profit Improvement Potential</a:t>
            </a:r>
            <a:endParaRPr sz="21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29" name=" "/>
          <p:cNvSpPr txBox="1"/>
          <p:nvPr/>
        </p:nvSpPr>
        <p:spPr>
          <a:xfrm>
            <a:off x="5575540" y="6772058"/>
            <a:ext cx="1473160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chemeClr val="bg1"/>
                </a:solidFill>
                <a:latin typeface="Bai Jamjuree" pitchFamily="2" charset="-34"/>
                <a:ea typeface="Helvetica Neue"/>
                <a:cs typeface="Bai Jamjuree" pitchFamily="2" charset="-34"/>
              </a:rPr>
              <a:t> </a:t>
            </a:r>
            <a:endParaRPr kern="0" dirty="0">
              <a:solidFill>
                <a:schemeClr val="bg1"/>
              </a:solidFill>
              <a:latin typeface="Bai Jamjuree" pitchFamily="2" charset="-34"/>
              <a:ea typeface="Helvetica Neue"/>
              <a:cs typeface="Bai Jamjuree" pitchFamily="2" charset="-34"/>
            </a:endParaRPr>
          </a:p>
        </p:txBody>
      </p:sp>
      <p:sp>
        <p:nvSpPr>
          <p:cNvPr id="30" name="{KPI_group_title}"/>
          <p:cNvSpPr txBox="1"/>
          <p:nvPr/>
        </p:nvSpPr>
        <p:spPr>
          <a:xfrm>
            <a:off x="12356039" y="1081854"/>
            <a:ext cx="2274662" cy="507831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b="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Impact Metrics</a:t>
            </a:r>
            <a:endParaRPr b="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1" name="{Kpi_title}"/>
          <p:cNvSpPr txBox="1"/>
          <p:nvPr/>
        </p:nvSpPr>
        <p:spPr>
          <a:xfrm>
            <a:off x="13265785" y="1943100"/>
            <a:ext cx="4488815" cy="50800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400" b="1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Top Priority</a:t>
            </a:r>
            <a:endParaRPr sz="2400" b="1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2" name="{Kpi_value}"/>
          <p:cNvSpPr txBox="1"/>
          <p:nvPr/>
        </p:nvSpPr>
        <p:spPr>
          <a:xfrm>
            <a:off x="13265785" y="2400300"/>
            <a:ext cx="4620895" cy="101155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$11,884.78</a:t>
            </a:r>
          </a:p>
        </p:txBody>
      </p:sp>
      <p:sp>
        <p:nvSpPr>
          <p:cNvPr id="33" name="{Kpi_summary}"/>
          <p:cNvSpPr txBox="1"/>
          <p:nvPr/>
        </p:nvSpPr>
        <p:spPr>
          <a:xfrm>
            <a:off x="13265785" y="3426460"/>
            <a:ext cx="4604385" cy="103314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000" kern="0" dirty="0">
                <a:solidFill>
                  <a:schemeClr val="bg1">
                    <a:lumMod val="85000"/>
                  </a:schemeClr>
                </a:solidFill>
                <a:ea typeface="Helvetica Neue"/>
                <a:cs typeface="Bai Jamjuree" pitchFamily="2" charset="-34"/>
              </a:rPr>
              <a:t>Highest absolute profit enhancement potential from COGS optimization</a:t>
            </a:r>
          </a:p>
        </p:txBody>
      </p:sp>
      <p:sp>
        <p:nvSpPr>
          <p:cNvPr id="34" name="{Kpi_title}"/>
          <p:cNvSpPr txBox="1"/>
          <p:nvPr/>
        </p:nvSpPr>
        <p:spPr>
          <a:xfrm>
            <a:off x="13265785" y="4529455"/>
            <a:ext cx="4489450" cy="46799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400" b="1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Secondary Priority</a:t>
            </a:r>
            <a:endParaRPr sz="2400" b="1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5" name="{Kpi_value}"/>
          <p:cNvSpPr txBox="1"/>
          <p:nvPr/>
        </p:nvSpPr>
        <p:spPr>
          <a:xfrm>
            <a:off x="13265785" y="5020945"/>
            <a:ext cx="4469130" cy="101409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$13,940.84</a:t>
            </a:r>
          </a:p>
        </p:txBody>
      </p:sp>
      <p:sp>
        <p:nvSpPr>
          <p:cNvPr id="36" name="{Kpi_summary}"/>
          <p:cNvSpPr txBox="1"/>
          <p:nvPr/>
        </p:nvSpPr>
        <p:spPr>
          <a:xfrm>
            <a:off x="13265785" y="6012815"/>
            <a:ext cx="4620895" cy="98425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000" kern="0" dirty="0">
                <a:solidFill>
                  <a:schemeClr val="bg1">
                    <a:lumMod val="85000"/>
                  </a:schemeClr>
                </a:solidFill>
                <a:ea typeface="Helvetica Neue"/>
                <a:cs typeface="Bai Jamjuree" pitchFamily="2" charset="-34"/>
              </a:rPr>
              <a:t>Combined secondary product optimization opportunity</a:t>
            </a:r>
          </a:p>
        </p:txBody>
      </p:sp>
      <p:sp>
        <p:nvSpPr>
          <p:cNvPr id="37" name="{Kpi_title}"/>
          <p:cNvSpPr txBox="1"/>
          <p:nvPr/>
        </p:nvSpPr>
        <p:spPr>
          <a:xfrm>
            <a:off x="13265785" y="7116445"/>
            <a:ext cx="4282440" cy="46799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400" b="1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Optimization Range</a:t>
            </a:r>
            <a:endParaRPr sz="2400" b="1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38" name="{Kpi_value}"/>
          <p:cNvSpPr txBox="1"/>
          <p:nvPr/>
        </p:nvSpPr>
        <p:spPr>
          <a:xfrm>
            <a:off x="13265785" y="7530465"/>
            <a:ext cx="4489450" cy="1014730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 anchorCtr="0">
            <a:normAutofit/>
          </a:bodyPr>
          <a:lstStyle>
            <a:lvl1pPr algn="l">
              <a:defRPr sz="6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0.25%-0.85%</a:t>
            </a:r>
          </a:p>
        </p:txBody>
      </p:sp>
      <p:sp>
        <p:nvSpPr>
          <p:cNvPr id="39" name="{Kpi_summary}"/>
          <p:cNvSpPr txBox="1"/>
          <p:nvPr/>
        </p:nvSpPr>
        <p:spPr>
          <a:xfrm>
            <a:off x="13265785" y="8599805"/>
            <a:ext cx="4650105" cy="1252855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Autofit/>
          </a:bodyPr>
          <a:lstStyle>
            <a:lvl1pPr algn="l">
              <a:defRPr sz="18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000" kern="0" dirty="0">
                <a:solidFill>
                  <a:schemeClr val="bg1">
                    <a:lumMod val="85000"/>
                  </a:schemeClr>
                </a:solidFill>
                <a:ea typeface="Helvetica Neue"/>
                <a:cs typeface="Bai Jamjuree" pitchFamily="2" charset="-34"/>
              </a:rPr>
              <a:t>Profit improvement rate range across product portfolio</a:t>
            </a:r>
          </a:p>
        </p:txBody>
      </p:sp>
      <p:sp>
        <p:nvSpPr>
          <p:cNvPr id="40" name="Freeform 6"/>
          <p:cNvSpPr/>
          <p:nvPr/>
        </p:nvSpPr>
        <p:spPr>
          <a:xfrm rot="543904">
            <a:off x="-1858935" y="8723421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1" name="Freeform 15"/>
          <p:cNvSpPr>
            <a:spLocks noChangeAspect="1"/>
          </p:cNvSpPr>
          <p:nvPr/>
        </p:nvSpPr>
        <p:spPr>
          <a:xfrm>
            <a:off x="12356039" y="1943247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2" name="Freeform 15"/>
          <p:cNvSpPr>
            <a:spLocks noChangeAspect="1"/>
          </p:cNvSpPr>
          <p:nvPr/>
        </p:nvSpPr>
        <p:spPr>
          <a:xfrm>
            <a:off x="12356039" y="4572965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3" name="Freeform 15"/>
          <p:cNvSpPr>
            <a:spLocks noChangeAspect="1"/>
          </p:cNvSpPr>
          <p:nvPr/>
        </p:nvSpPr>
        <p:spPr>
          <a:xfrm>
            <a:off x="12356039" y="7202652"/>
            <a:ext cx="528844" cy="630942"/>
          </a:xfrm>
          <a:custGeom>
            <a:avLst/>
            <a:gdLst/>
            <a:ahLst/>
            <a:cxnLst/>
            <a:rect l="l" t="t" r="r" b="b"/>
            <a:pathLst>
              <a:path w="1076573" h="1284415">
                <a:moveTo>
                  <a:pt x="0" y="0"/>
                </a:moveTo>
                <a:lnTo>
                  <a:pt x="1076572" y="0"/>
                </a:lnTo>
                <a:lnTo>
                  <a:pt x="1076572" y="1284414"/>
                </a:lnTo>
                <a:lnTo>
                  <a:pt x="0" y="1284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1005" name="Chart Image 6"/>
          <p:cNvPicPr/>
          <p:nvPr/>
        </p:nvPicPr>
        <p:blipFill>
          <a:blip r:embed="rId7"/>
          <a:stretch>
            <a:fillRect/>
          </a:stretch>
        </p:blipFill>
        <p:spPr>
          <a:xfrm>
            <a:off x="2041060" y="4573358"/>
            <a:ext cx="8395517" cy="49575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圆角矩形" descr="{CG[1].image}"/>
          <p:cNvSpPr/>
          <p:nvPr/>
        </p:nvSpPr>
        <p:spPr>
          <a:xfrm>
            <a:off x="6853016" y="2070381"/>
            <a:ext cx="10399858" cy="6508100"/>
          </a:xfrm>
          <a:prstGeom prst="roundRect">
            <a:avLst>
              <a:gd name="adj" fmla="val 0"/>
            </a:avLst>
          </a:prstGeom>
          <a:solidFill>
            <a:schemeClr val="bg1">
              <a:alpha val="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40" name="Freeform 6"/>
          <p:cNvSpPr/>
          <p:nvPr/>
        </p:nvSpPr>
        <p:spPr>
          <a:xfrm rot="543904">
            <a:off x="-940728" y="8061713"/>
            <a:ext cx="10103966" cy="8156656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{Paragraph_title}"/>
          <p:cNvSpPr txBox="1"/>
          <p:nvPr/>
        </p:nvSpPr>
        <p:spPr>
          <a:xfrm>
            <a:off x="655320" y="1082040"/>
            <a:ext cx="5271770" cy="139319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 sz="46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36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Key Findings</a:t>
            </a:r>
            <a:endParaRPr sz="36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26" name="{Paragraph_content}"/>
          <p:cNvSpPr txBox="1"/>
          <p:nvPr/>
        </p:nvSpPr>
        <p:spPr>
          <a:xfrm>
            <a:off x="746125" y="2904490"/>
            <a:ext cx="5202555" cy="5247005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>
            <a:noAutofit/>
          </a:bodyPr>
          <a:lstStyle/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400" kern="0" dirty="0">
                <a:solidFill>
                  <a:schemeClr val="bg1"/>
                </a:solidFill>
                <a:ea typeface="Helvetica Neue"/>
                <a:cs typeface="Bai Jamjuree" pitchFamily="2" charset="-34"/>
                <a:sym typeface="Helvetica Neue"/>
              </a:rPr>
              <a:t>Chocolate Chip emerges as the primary profit driver with a 17.95 efficiency score, commanding 29.91% volume share and contributing 36.55% of total profit despite maintaining a 60% margin. In contrast, Fortune Cookie achieves the highest margin at 80% but delivers only 4.46% profit contribution due to significant volume constraints at 13.7%. This analysis reveals that profit efficiency is not solely determined by margin percentage but rather by the strategic balance between margin and volume positioning across the product portfolio.</a:t>
            </a: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  <a:p>
            <a:pPr defTabSz="1828800" hangingPunct="0">
              <a:defRPr sz="3600">
                <a:solidFill>
                  <a:srgbClr val="A1A1AA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sz="2400" kern="0" dirty="0">
              <a:solidFill>
                <a:schemeClr val="bg1"/>
              </a:solidFill>
              <a:ea typeface="Helvetica Neue"/>
              <a:cs typeface="Bai Jamjuree" pitchFamily="2" charset="-34"/>
              <a:sym typeface="Helvetica Neue"/>
            </a:endParaRPr>
          </a:p>
        </p:txBody>
      </p:sp>
      <p:sp>
        <p:nvSpPr>
          <p:cNvPr id="27" name="{Chart_title}"/>
          <p:cNvSpPr txBox="1"/>
          <p:nvPr/>
        </p:nvSpPr>
        <p:spPr>
          <a:xfrm>
            <a:off x="6732777" y="1056187"/>
            <a:ext cx="10433998" cy="400110"/>
          </a:xfrm>
          <a:prstGeom prst="rect">
            <a:avLst/>
          </a:prstGeom>
          <a:ln w="12700">
            <a:miter lim="400000"/>
          </a:ln>
        </p:spPr>
        <p:txBody>
          <a:bodyPr lIns="38100" tIns="38100" rIns="38100" bIns="38100">
            <a:normAutofit/>
          </a:bodyPr>
          <a:lstStyle>
            <a:lvl1pPr algn="l">
              <a:defRPr sz="28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sz="2100" kern="0" dirty="0">
                <a:solidFill>
                  <a:schemeClr val="bg1"/>
                </a:solidFill>
                <a:ea typeface="Helvetica Neue"/>
                <a:cs typeface="Bai Jamjuree" pitchFamily="2" charset="-34"/>
              </a:rPr>
              <a:t>Product Volume-Margin Trade-Off &amp; Profit Contribution Positioning</a:t>
            </a:r>
            <a:endParaRPr sz="2100" kern="0" dirty="0">
              <a:solidFill>
                <a:schemeClr val="bg1"/>
              </a:solidFill>
              <a:ea typeface="Helvetica Neue"/>
              <a:cs typeface="Bai Jamjuree" pitchFamily="2" charset="-34"/>
            </a:endParaRPr>
          </a:p>
        </p:txBody>
      </p:sp>
      <p:sp>
        <p:nvSpPr>
          <p:cNvPr id="28" name=" "/>
          <p:cNvSpPr txBox="1"/>
          <p:nvPr/>
        </p:nvSpPr>
        <p:spPr>
          <a:xfrm>
            <a:off x="11209452" y="4970488"/>
            <a:ext cx="1473160" cy="353943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l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1828800" hangingPunct="0"/>
            <a:r>
              <a:rPr lang="en-US" kern="0" dirty="0">
                <a:solidFill>
                  <a:schemeClr val="bg1"/>
                </a:solidFill>
                <a:latin typeface="Bai Jamjuree" pitchFamily="2" charset="-34"/>
                <a:ea typeface="Helvetica Neue"/>
                <a:cs typeface="Bai Jamjuree" pitchFamily="2" charset="-34"/>
              </a:rPr>
              <a:t> </a:t>
            </a:r>
            <a:endParaRPr kern="0" dirty="0">
              <a:solidFill>
                <a:schemeClr val="bg1"/>
              </a:solidFill>
              <a:latin typeface="Bai Jamjuree" pitchFamily="2" charset="-34"/>
              <a:ea typeface="Helvetica Neue"/>
              <a:cs typeface="Bai Jamjuree" pitchFamily="2" charset="-34"/>
            </a:endParaRPr>
          </a:p>
        </p:txBody>
      </p:sp>
      <p:pic>
        <p:nvPicPr>
          <p:cNvPr id="1006" name="Chart Image 7"/>
          <p:cNvPicPr/>
          <p:nvPr/>
        </p:nvPicPr>
        <p:blipFill>
          <a:blip r:embed="rId5"/>
          <a:stretch>
            <a:fillRect/>
          </a:stretch>
        </p:blipFill>
        <p:spPr>
          <a:xfrm>
            <a:off x="6853016" y="2297607"/>
            <a:ext cx="10399858" cy="60536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</TotalTime>
  <Words>809</Words>
  <Application>Microsoft Office PowerPoint</Application>
  <PresentationFormat>Custom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 Light</vt:lpstr>
      <vt:lpstr>Bai Jamjuree</vt:lpstr>
      <vt:lpstr>Inter</vt:lpstr>
      <vt:lpstr>Calibri</vt:lpstr>
      <vt:lpstr>Helvetica Neue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Business Presentation in Dark Blue Pink Abstract Tech Style</dc:title>
  <dc:creator/>
  <cp:lastModifiedBy>Louis Parsons</cp:lastModifiedBy>
  <cp:revision>64</cp:revision>
  <dcterms:created xsi:type="dcterms:W3CDTF">2025-09-10T02:44:10Z</dcterms:created>
  <dcterms:modified xsi:type="dcterms:W3CDTF">2026-01-13T11:00:34Z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16539B0B19C9697236F98D6814CE3B9E_42</vt:lpwstr>
  </property>
  <property fmtid="{D5CDD505-2E9C-101B-9397-08002B2CF9AE}" pid="3" name="KSOProductBuildVer">
    <vt:lpwstr>2052-6.5.2.8766</vt:lpwstr>
  </property>
  <property fmtid="{D5CDD505-2E9C-101B-9397-08002B2CF9AE}" pid="4" name="_MarkAsFinal">
    <vt:bool>true</vt:bool>
  </property>
</Properties>
</file>